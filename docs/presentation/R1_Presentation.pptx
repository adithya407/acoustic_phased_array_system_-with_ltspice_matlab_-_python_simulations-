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77" r:id="rId7"/>
    <p:sldId id="261" r:id="rId8"/>
    <p:sldId id="276" r:id="rId9"/>
    <p:sldId id="262" r:id="rId10"/>
    <p:sldId id="263" r:id="rId11"/>
    <p:sldId id="264" r:id="rId12"/>
    <p:sldId id="265" r:id="rId13"/>
    <p:sldId id="266" r:id="rId14"/>
    <p:sldId id="269" r:id="rId15"/>
    <p:sldId id="270" r:id="rId16"/>
    <p:sldId id="271" r:id="rId17"/>
    <p:sldId id="273" r:id="rId18"/>
    <p:sldId id="274" r:id="rId19"/>
    <p:sldId id="275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4" d="100"/>
          <a:sy n="104" d="100"/>
        </p:scale>
        <p:origin x="12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Phase-only steering</c:v>
                </c:pt>
              </c:strCache>
            </c:strRef>
          </c:tx>
          <c:spPr>
            <a:ln w="31750" cap="flat">
              <a:solidFill>
                <a:srgbClr val="B23A4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B23A48"/>
              </a:solidFill>
              <a:ln w="9525" cap="flat">
                <a:solidFill>
                  <a:srgbClr val="B23A4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200Hz</c:v>
                </c:pt>
                <c:pt idx="1">
                  <c:v>400Hz</c:v>
                </c:pt>
                <c:pt idx="2">
                  <c:v>800Hz</c:v>
                </c:pt>
                <c:pt idx="3">
                  <c:v>1kHz</c:v>
                </c:pt>
                <c:pt idx="4">
                  <c:v>2kHz</c:v>
                </c:pt>
                <c:pt idx="5">
                  <c:v>3.2kHz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22</c:v>
                </c:pt>
                <c:pt idx="2">
                  <c:v>30</c:v>
                </c:pt>
                <c:pt idx="3">
                  <c:v>41</c:v>
                </c:pt>
                <c:pt idx="4">
                  <c:v>58</c:v>
                </c:pt>
                <c:pt idx="5">
                  <c:v>74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07A-493D-94DA-5F47DE534F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 time delay</c:v>
                </c:pt>
              </c:strCache>
            </c:strRef>
          </c:tx>
          <c:spPr>
            <a:ln w="31750" cap="flat">
              <a:solidFill>
                <a:srgbClr val="1C7C5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C54"/>
              </a:solidFill>
              <a:ln w="9525" cap="flat">
                <a:solidFill>
                  <a:srgbClr val="1C7C54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200Hz</c:v>
                </c:pt>
                <c:pt idx="1">
                  <c:v>400Hz</c:v>
                </c:pt>
                <c:pt idx="2">
                  <c:v>800Hz</c:v>
                </c:pt>
                <c:pt idx="3">
                  <c:v>1kHz</c:v>
                </c:pt>
                <c:pt idx="4">
                  <c:v>2kHz</c:v>
                </c:pt>
                <c:pt idx="5">
                  <c:v>3.2kHz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30</c:v>
                </c:pt>
                <c:pt idx="1">
                  <c:v>30</c:v>
                </c:pt>
                <c:pt idx="2">
                  <c:v>30</c:v>
                </c:pt>
                <c:pt idx="3">
                  <c:v>30</c:v>
                </c:pt>
                <c:pt idx="4">
                  <c:v>30</c:v>
                </c:pt>
                <c:pt idx="5">
                  <c:v>30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07A-493D-94DA-5F47DE534F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5B6B85"/>
                    </a:solidFill>
                    <a:latin typeface="Arial"/>
                  </a:rPr>
                  <a:t>Steering angle (°)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Phase-only steering</c:v>
                </c:pt>
              </c:strCache>
            </c:strRef>
          </c:tx>
          <c:spPr>
            <a:solidFill>
              <a:srgbClr val="B23A4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500Hz</c:v>
                </c:pt>
                <c:pt idx="1">
                  <c:v>1kHz</c:v>
                </c:pt>
                <c:pt idx="2">
                  <c:v>2kHz</c:v>
                </c:pt>
                <c:pt idx="3">
                  <c:v>4kHz</c:v>
                </c:pt>
                <c:pt idx="4">
                  <c:v>8kHz</c:v>
                </c:pt>
                <c:pt idx="5">
                  <c:v>12kHz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18</c:v>
                </c:pt>
                <c:pt idx="1">
                  <c:v>8</c:v>
                </c:pt>
                <c:pt idx="2">
                  <c:v>0</c:v>
                </c:pt>
                <c:pt idx="3">
                  <c:v>11</c:v>
                </c:pt>
                <c:pt idx="4">
                  <c:v>28</c:v>
                </c:pt>
                <c:pt idx="5">
                  <c:v>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E25-4159-B51E-20DDB3E4807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True time delay</c:v>
                </c:pt>
              </c:strCache>
            </c:strRef>
          </c:tx>
          <c:spPr>
            <a:solidFill>
              <a:srgbClr val="1C7C54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500Hz</c:v>
                </c:pt>
                <c:pt idx="1">
                  <c:v>1kHz</c:v>
                </c:pt>
                <c:pt idx="2">
                  <c:v>2kHz</c:v>
                </c:pt>
                <c:pt idx="3">
                  <c:v>4kHz</c:v>
                </c:pt>
                <c:pt idx="4">
                  <c:v>8kHz</c:v>
                </c:pt>
                <c:pt idx="5">
                  <c:v>12kHz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BE25-4159-B51E-20DDB3E4807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3E9F2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5B6B85"/>
                    </a:solidFill>
                    <a:latin typeface="Arial"/>
                  </a:defRPr>
                </a:pPr>
                <a:r>
                  <a:rPr lang="en-IN" sz="1000" b="0" i="0" u="none" strike="noStrike">
                    <a:solidFill>
                      <a:srgbClr val="5B6B85"/>
                    </a:solidFill>
                    <a:latin typeface="Arial"/>
                  </a:rPr>
                  <a:t>Angular error (°)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8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5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63647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F31630-E96B-BCAA-3DD6-21C8A5FBE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0ED15B2-8DA2-8B5F-511C-09419C6112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D15A427-E924-0F63-6980-D700597A84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9123C5-E228-481A-10E1-DF7BD982B8D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24851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Relationship Id="rId10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chart" Target="../charts/char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emf"/><Relationship Id="rId3" Type="http://schemas.openxmlformats.org/officeDocument/2006/relationships/image" Target="../media/image18.emf"/><Relationship Id="rId4" Type="http://schemas.openxmlformats.org/officeDocument/2006/relationships/image" Target="../media/image19.emf"/><Relationship Id="rId5" Type="http://schemas.openxmlformats.org/officeDocument/2006/relationships/image" Target="../media/image2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7.png"/><Relationship Id="rId4" Type="http://schemas.openxmlformats.org/officeDocument/2006/relationships/image" Target="../media/image21.png"/><Relationship Id="rId5" Type="http://schemas.openxmlformats.org/officeDocument/2006/relationships/image" Target="../media/image6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2.png"/><Relationship Id="rId4" Type="http://schemas.openxmlformats.org/officeDocument/2006/relationships/chart" Target="../charts/char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98080" y="2514600"/>
            <a:ext cx="8046720" cy="8046720"/>
          </a:xfrm>
          <a:prstGeom prst="donut">
            <a:avLst/>
          </a:prstGeom>
          <a:ln w="13970">
            <a:solidFill>
              <a:srgbClr val="2E86AB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321040" y="3337560"/>
            <a:ext cx="6400800" cy="6400800"/>
          </a:xfrm>
          <a:prstGeom prst="donut">
            <a:avLst/>
          </a:prstGeom>
          <a:ln w="13970">
            <a:solidFill>
              <a:srgbClr val="2E86AB">
                <a:alpha val="37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144000" y="4160520"/>
            <a:ext cx="4754880" cy="4754880"/>
          </a:xfrm>
          <a:prstGeom prst="donut">
            <a:avLst/>
          </a:prstGeom>
          <a:ln w="13970">
            <a:solidFill>
              <a:srgbClr val="2E86AB">
                <a:alpha val="29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966960" y="4983480"/>
            <a:ext cx="3108960" cy="3108960"/>
          </a:xfrm>
          <a:prstGeom prst="donut">
            <a:avLst/>
          </a:prstGeom>
          <a:ln w="13970">
            <a:solidFill>
              <a:srgbClr val="2E86AB">
                <a:alpha val="21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566928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7" name="Shape 5"/>
          <p:cNvSpPr/>
          <p:nvPr/>
        </p:nvSpPr>
        <p:spPr>
          <a:xfrm>
            <a:off x="850392" y="566928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8" name="Shape 6"/>
          <p:cNvSpPr/>
          <p:nvPr/>
        </p:nvSpPr>
        <p:spPr>
          <a:xfrm>
            <a:off x="1152144" y="56692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9" name="Shape 7"/>
          <p:cNvSpPr/>
          <p:nvPr/>
        </p:nvSpPr>
        <p:spPr>
          <a:xfrm>
            <a:off x="1453896" y="566928"/>
            <a:ext cx="146304" cy="146304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Shape 8"/>
          <p:cNvSpPr/>
          <p:nvPr/>
        </p:nvSpPr>
        <p:spPr>
          <a:xfrm>
            <a:off x="1755648" y="566928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1" name="Shape 9"/>
          <p:cNvSpPr/>
          <p:nvPr/>
        </p:nvSpPr>
        <p:spPr>
          <a:xfrm>
            <a:off x="2057400" y="566928"/>
            <a:ext cx="146304" cy="146304"/>
          </a:xfrm>
          <a:prstGeom prst="ellipse">
            <a:avLst/>
          </a:prstGeom>
          <a:solidFill>
            <a:srgbClr val="2E86A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74980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6-ELEMENT ARRAY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2331720"/>
            <a:ext cx="10515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Acoustic Phased-Array System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548640" y="32461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Time-Delay Beamforming on the RP2040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548640" y="3977640"/>
            <a:ext cx="237744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397764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LABORATORY I  ·  REVIEW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063240" y="3977640"/>
            <a:ext cx="4114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 with Supporting Literature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7315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 ·  Department of ECE  ·  Amrita Vishwa Vidyapeetham, Coimbatore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6949440" cy="1417320"/>
          </a:xfrm>
          <a:prstGeom prst="rect">
            <a:avLst/>
          </a:prstGeom>
          <a:solidFill>
            <a:srgbClr val="142038"/>
          </a:solidFill>
          <a:ln w="9525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19379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5468112"/>
            <a:ext cx="6400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Beesetty Rohith — CB.EN.U4ECE24106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Indraganti Sri Sarath — CB.EN.U4ECE24122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Lalithadithya Krishna Enukonda — CB.EN.U4ECE24133</a:t>
            </a:r>
            <a:endParaRPr lang="en-US" sz="1250" dirty="0"/>
          </a:p>
          <a:p>
            <a:pPr marL="0" indent="0">
              <a:spcAft>
                <a:spcPts val="400"/>
              </a:spcAft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Galeti Jaswanth — CB.EN.U4ECE24165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548640" y="6510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1 · August 3,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372697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6125" y="166530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ppt/assets/icon_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926" y="1797581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72184" y="15453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Motivation &amp; Objectives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452798" y="176479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steerable acoustic beams, and what we set out to build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17920" y="1367765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382512" y="1668927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11" name="Image 1" descr="/home/claude/ppt/assets/icon_physic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29913" y="186114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09460" y="1545336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Physics of Beam Steering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09460" y="178034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diffraction grating to array intensity pattern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48640" y="2670048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13232" y="2959328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6" name="Image 2" descr="/home/claude/ppt/assets/icon_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443" y="3127248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44752" y="2852043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Key Insight: TTD vs. Phase Steering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427561" y="3110057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time delay beats phase shift across frequency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17920" y="2670048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382512" y="2959328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21" name="Image 3" descr="/home/claude/ppt/assets/icon_boo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29913" y="3123708"/>
            <a:ext cx="272125" cy="27212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14032" y="279254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Literature Review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14032" y="3041331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papers spanning theory, application, and precedent hardware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548640" y="3985686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725784" y="4275261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6" name="Image 4" descr="/home/claude/ppt/assets/icon_lightbulb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702" y="4424876"/>
            <a:ext cx="272125" cy="27212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452798" y="4096512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Research Gap &amp; Our Contribution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452798" y="431137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missing, and how this project fills it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17920" y="3973805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6371172" y="4259605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31" name="Image 5" descr="/home/claude/ppt/assets/icon_chip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8573" y="4410831"/>
            <a:ext cx="272125" cy="27212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14032" y="4108311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 System Architecture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14032" y="428180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Hardware and firmware design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548640" y="5286035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696041" y="5557240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36" name="Image 6" descr="/home/claude/ppt/assets/icon_flask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8925" y="5727896"/>
            <a:ext cx="272125" cy="272125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452798" y="5474944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 Methodology</a:t>
            </a:r>
            <a:endParaRPr lang="en-US" sz="1350" dirty="0"/>
          </a:p>
        </p:txBody>
      </p:sp>
      <p:sp>
        <p:nvSpPr>
          <p:cNvPr id="38" name="Text 29"/>
          <p:cNvSpPr/>
          <p:nvPr/>
        </p:nvSpPr>
        <p:spPr>
          <a:xfrm>
            <a:off x="1444752" y="5735058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Simulation-first validation, then hardware-in-the-loop</a:t>
            </a:r>
            <a:endParaRPr lang="en-US" sz="1050" dirty="0"/>
          </a:p>
        </p:txBody>
      </p:sp>
      <p:sp>
        <p:nvSpPr>
          <p:cNvPr id="39" name="Shape 30"/>
          <p:cNvSpPr/>
          <p:nvPr/>
        </p:nvSpPr>
        <p:spPr>
          <a:xfrm>
            <a:off x="6217920" y="5286035"/>
            <a:ext cx="5349240" cy="1207008"/>
          </a:xfrm>
          <a:prstGeom prst="roundRect">
            <a:avLst>
              <a:gd name="adj" fmla="val 606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6382512" y="5577036"/>
            <a:ext cx="566928" cy="566928"/>
          </a:xfrm>
          <a:prstGeom prst="ellipse">
            <a:avLst/>
          </a:prstGeom>
          <a:solidFill>
            <a:srgbClr val="1B2A4A"/>
          </a:solidFill>
          <a:ln/>
        </p:spPr>
      </p:sp>
      <p:pic>
        <p:nvPicPr>
          <p:cNvPr id="41" name="Image 7" descr="/home/claude/ppt/assets/icon_calenda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41253" y="5735058"/>
            <a:ext cx="272125" cy="272125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109460" y="5462590"/>
            <a:ext cx="4297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 Timeline &amp; Future Scope</a:t>
            </a:r>
            <a:endParaRPr lang="en-US" sz="1350" dirty="0"/>
          </a:p>
        </p:txBody>
      </p:sp>
      <p:sp>
        <p:nvSpPr>
          <p:cNvPr id="43" name="Text 33"/>
          <p:cNvSpPr/>
          <p:nvPr/>
        </p:nvSpPr>
        <p:spPr>
          <a:xfrm>
            <a:off x="7114032" y="5762032"/>
            <a:ext cx="4297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June–October 2026, and the road to Open Lab II</a:t>
            </a:r>
            <a:endParaRPr lang="en-US" sz="1050" dirty="0"/>
          </a:p>
        </p:txBody>
      </p:sp>
      <p:sp>
        <p:nvSpPr>
          <p:cNvPr id="44" name="Text 3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45" name="Text 3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Steerable Acoustic Beams?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" cy="64008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5" name="Image 0" descr="/home/claude/ppt/assets/icon_motiv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5061" y="1858061"/>
            <a:ext cx="307238" cy="30723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548640" y="2331720"/>
            <a:ext cx="52120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Conventional speakers radiate sound broadly — most acoustic energy is wasted where no listener sits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Mechanically steered speakers require motors: slow response, moving parts, high power draw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installations can't adapt to a moving listener or a changing room layout</a:t>
            </a:r>
            <a:endParaRPr lang="en-US" sz="1350" dirty="0"/>
          </a:p>
        </p:txBody>
      </p:sp>
      <p:sp>
        <p:nvSpPr>
          <p:cNvPr id="8" name="Shape 5"/>
          <p:cNvSpPr/>
          <p:nvPr/>
        </p:nvSpPr>
        <p:spPr>
          <a:xfrm>
            <a:off x="6172200" y="1600200"/>
            <a:ext cx="18288" cy="4114800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9" name="Shape 6"/>
          <p:cNvSpPr/>
          <p:nvPr/>
        </p:nvSpPr>
        <p:spPr>
          <a:xfrm>
            <a:off x="6492240" y="1691640"/>
            <a:ext cx="640080" cy="64008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0" name="Image 1" descr="/home/claude/ppt/assets/icon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58661" y="1858061"/>
            <a:ext cx="307238" cy="30723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315200" y="173736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Our Approach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6492240" y="2331720"/>
            <a:ext cx="516636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Electronic beam steering: redirect acoustic energy using per-channel time delays — no moving parts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6-element array driven by an RP2040 lets the beam angle change instantly, set by a simple potentiometer</a:t>
            </a:r>
            <a:endParaRPr lang="en-US" sz="13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time-delay (not just phase) keeps the beam pointed correctly across the whole audio band</a:t>
            </a:r>
            <a:endParaRPr lang="en-US" sz="1350" dirty="0"/>
          </a:p>
        </p:txBody>
      </p:sp>
      <p:sp>
        <p:nvSpPr>
          <p:cNvPr id="13" name="Shape 9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1B2A4A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Goal:  </a:t>
            </a: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working, steerable acoustic phased array on low-cost embedded hardware, and rigorously validate the physics behind it.</a:t>
            </a:r>
            <a:endParaRPr lang="en-US" sz="1350" dirty="0"/>
          </a:p>
        </p:txBody>
      </p:sp>
      <p:sp>
        <p:nvSpPr>
          <p:cNvPr id="15" name="Text 11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Objectives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819656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ppt/assets/icon_slid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5988" y="1957548"/>
            <a:ext cx="254569" cy="25456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688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build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6-element acoustic phased array with a potentiometer-based steering UI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4334256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553712" y="1819656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0" name="Image 1" descr="/home/claude/ppt/assets/icon_chi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1604" y="1957548"/>
            <a:ext cx="254569" cy="254569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53712" y="24688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true time-delay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beamforming on the RP2040 — not phase-only steering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8119872" y="1600200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8339328" y="1819656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4" name="Image 2" descr="/home/claude/ppt/assets/icon_compar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7220" y="1957548"/>
            <a:ext cx="254569" cy="254569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39328" y="2468880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Quantify &amp; compare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TTD vs. phase-steering performance across the audio frequency band</a:t>
            </a:r>
            <a:endParaRPr lang="en-US" sz="1250" dirty="0"/>
          </a:p>
        </p:txBody>
      </p:sp>
      <p:sp>
        <p:nvSpPr>
          <p:cNvPr id="16" name="Shape 11"/>
          <p:cNvSpPr/>
          <p:nvPr/>
        </p:nvSpPr>
        <p:spPr>
          <a:xfrm>
            <a:off x="548640" y="3767328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768096" y="3986784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8" name="Image 3" descr="/home/claude/ppt/assets/icon_flas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05988" y="4124676"/>
            <a:ext cx="254569" cy="254569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68096" y="4636008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through simulation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MATLAB/Simulink before committing to hardware measurements</a:t>
            </a:r>
            <a:endParaRPr lang="en-US" sz="1250" dirty="0"/>
          </a:p>
        </p:txBody>
      </p:sp>
      <p:sp>
        <p:nvSpPr>
          <p:cNvPr id="20" name="Shape 14"/>
          <p:cNvSpPr/>
          <p:nvPr/>
        </p:nvSpPr>
        <p:spPr>
          <a:xfrm>
            <a:off x="4334256" y="3767328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4553712" y="3986784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2" name="Image 4" descr="/home/claude/ppt/assets/icon_plug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1604" y="4124676"/>
            <a:ext cx="254569" cy="254569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553712" y="4636008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 in hardware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hardware-in-the-loop testing on the physical RP2040 via External Mode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8119872" y="3767328"/>
            <a:ext cx="361188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25" name="Shape 18"/>
          <p:cNvSpPr/>
          <p:nvPr/>
        </p:nvSpPr>
        <p:spPr>
          <a:xfrm>
            <a:off x="8339328" y="3986784"/>
            <a:ext cx="530352" cy="530352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26" name="Image 5" descr="/home/claude/ppt/assets/icon_rocket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77220" y="4124676"/>
            <a:ext cx="254569" cy="254569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8339328" y="4636008"/>
            <a:ext cx="31546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 groundwork </a:t>
            </a:r>
            <a:r>
              <a:rPr lang="en-US" sz="12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ultrasound-modulated audio and productization in Open Laboratory</a:t>
            </a:r>
            <a:endParaRPr lang="en-US" sz="1250" dirty="0"/>
          </a:p>
        </p:txBody>
      </p:sp>
      <p:sp>
        <p:nvSpPr>
          <p:cNvPr id="28" name="Text 2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Physics of Beam Steering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08760"/>
            <a:ext cx="5349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array of N speakers, spaced d apart, behaves like a diffraction grating for sound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speaker's individual radiation pattern is broad — but combining N identical sources creates a sharp interference pattern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Adding a phase term Φ between adjacent elements shifts the direction of that interference peak</a:t>
            </a:r>
            <a:endParaRPr lang="en-US" sz="1300" dirty="0"/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Squaring the wave function gives the far-field intensity pattern below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33400" y="3429000"/>
            <a:ext cx="5349240" cy="1371600"/>
          </a:xfrm>
          <a:prstGeom prst="roundRect">
            <a:avLst>
              <a:gd name="adj" fmla="val 5333"/>
            </a:avLst>
          </a:prstGeom>
          <a:solidFill>
            <a:srgbClr val="EDF2F9"/>
          </a:solidFill>
          <a:ln/>
        </p:spPr>
      </p:sp>
      <p:sp>
        <p:nvSpPr>
          <p:cNvPr id="6" name="Text 4"/>
          <p:cNvSpPr/>
          <p:nvPr/>
        </p:nvSpPr>
        <p:spPr>
          <a:xfrm>
            <a:off x="728418" y="3360568"/>
            <a:ext cx="48920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driver:  </a:t>
            </a: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solving for θ shows the steering angle depends on both phase shift AND wavelength — a problem for wideband audio.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172200" y="1508760"/>
            <a:ext cx="5486400" cy="2148840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35508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Far-Field Array Intensity Pattern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6172200" y="3886200"/>
            <a:ext cx="5486400" cy="2194560"/>
          </a:xfrm>
          <a:prstGeom prst="roundRect">
            <a:avLst>
              <a:gd name="adj" fmla="val 3333"/>
            </a:avLst>
          </a:prstGeom>
          <a:solidFill>
            <a:srgbClr val="1B2A4A"/>
          </a:solidFill>
          <a:ln/>
        </p:spPr>
      </p:sp>
      <p:sp>
        <p:nvSpPr>
          <p:cNvPr id="11" name="Text 8"/>
          <p:cNvSpPr/>
          <p:nvPr/>
        </p:nvSpPr>
        <p:spPr>
          <a:xfrm>
            <a:off x="6400800" y="4041648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Single-slit term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6400800" y="4315968"/>
            <a:ext cx="5029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Diffraction envelope of one speaker of width a — a broad central bump.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6400800" y="4892040"/>
            <a:ext cx="3108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N-element interference term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5166360"/>
            <a:ext cx="5029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Narrow, steerable peaks from combining N sources spaced d apart — this is the part that matters for beam-steering.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B7581EA-2607-31D6-8DD1-090EBA9875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151777"/>
            <a:ext cx="5120640" cy="973402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D09746E-496E-C8E8-0D35-AF0CA1D0835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74334" y="4991017"/>
            <a:ext cx="2149026" cy="95258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3BD219-2EFD-882D-9020-E64272EF0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4439F092-52AE-5ABD-BE00-2A139DE01F6F}"/>
              </a:ext>
            </a:extLst>
          </p:cNvPr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3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9A276E17-D457-A5D9-5BA8-C95201CA1604}"/>
              </a:ext>
            </a:extLst>
          </p:cNvPr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</a:rPr>
              <a:t>What is diffraction grating?</a:t>
            </a:r>
            <a:endParaRPr lang="en-US" sz="30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2C19FC2-FFFA-8425-08BF-A7FB11FFC27E}"/>
              </a:ext>
            </a:extLst>
          </p:cNvPr>
          <p:cNvSpPr/>
          <p:nvPr/>
        </p:nvSpPr>
        <p:spPr>
          <a:xfrm>
            <a:off x="548640" y="1508760"/>
            <a:ext cx="5349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IN" sz="1300" dirty="0"/>
              <a:t>In the context of this project, a </a:t>
            </a:r>
            <a:r>
              <a:rPr lang="en-IN" sz="1300" b="1" dirty="0"/>
              <a:t>diffraction grating</a:t>
            </a:r>
            <a:r>
              <a:rPr lang="en-IN" sz="1300" dirty="0"/>
              <a:t> is a physical model used to describe a system of </a:t>
            </a:r>
            <a:r>
              <a:rPr lang="en-IN" sz="1300" i="1" dirty="0"/>
              <a:t>N</a:t>
            </a:r>
            <a:r>
              <a:rPr lang="en-IN" sz="1300" dirty="0"/>
              <a:t> signal sources (transmitters) with a specific aperture (</a:t>
            </a:r>
            <a:r>
              <a:rPr lang="en-IN" sz="1300" i="1" dirty="0"/>
              <a:t>a</a:t>
            </a:r>
            <a:r>
              <a:rPr lang="en-IN" sz="1300" dirty="0"/>
              <a:t>) that are spaced a certain distance (</a:t>
            </a:r>
            <a:r>
              <a:rPr lang="en-IN" sz="1300" i="1" dirty="0"/>
              <a:t>d</a:t>
            </a:r>
            <a:r>
              <a:rPr lang="en-IN" sz="1300" dirty="0"/>
              <a:t>) apart and transmit at a specific wavelength (</a:t>
            </a:r>
            <a:r>
              <a:rPr lang="en-IN" sz="1300" i="1" dirty="0"/>
              <a:t>λ</a:t>
            </a:r>
            <a:r>
              <a:rPr lang="en-IN" sz="1300" dirty="0"/>
              <a:t>)</a:t>
            </a:r>
            <a:endParaRPr lang="en-US" sz="1300" dirty="0">
              <a:solidFill>
                <a:srgbClr val="1B2A4A"/>
              </a:solidFill>
              <a:ea typeface="Calibri" pitchFamily="34" charset="-122"/>
              <a:cs typeface="Calibri" pitchFamily="34" charset="-120"/>
            </a:endParaRPr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IN" sz="1300" dirty="0"/>
              <a:t>By adding a </a:t>
            </a:r>
            <a:r>
              <a:rPr lang="en-IN" sz="1300" b="1" dirty="0"/>
              <a:t>phase term</a:t>
            </a:r>
            <a:r>
              <a:rPr lang="en-IN" sz="1300" dirty="0"/>
              <a:t> (</a:t>
            </a:r>
            <a:r>
              <a:rPr lang="en-IN" sz="1300" i="1" dirty="0"/>
              <a:t>ϕ</a:t>
            </a:r>
            <a:r>
              <a:rPr lang="en-IN" sz="1300" dirty="0"/>
              <a:t>) to the standard diffraction grating equation, we can shift the angle of maximum sound intensity. Mathematically, the angle of maximum amplitude (</a:t>
            </a:r>
            <a:r>
              <a:rPr lang="en-IN" sz="1300" i="1" dirty="0"/>
              <a:t>θ</a:t>
            </a:r>
            <a:r>
              <a:rPr lang="en-IN" sz="1300" dirty="0"/>
              <a:t>) becomes a function of both the phase shift and the wavelength of the sound</a:t>
            </a:r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IN" sz="1300" dirty="0"/>
              <a:t>While a standard diffraction grating focuses on a single wavelength, we have to adapt the model for </a:t>
            </a:r>
            <a:r>
              <a:rPr lang="en-IN" sz="1300" b="1" dirty="0"/>
              <a:t>wide-band audio</a:t>
            </a:r>
            <a:r>
              <a:rPr lang="en-IN" sz="1300" dirty="0"/>
              <a:t> (music), which contains many frequencies</a:t>
            </a:r>
          </a:p>
          <a:p>
            <a:pPr marL="228600" indent="-228600">
              <a:spcAft>
                <a:spcPts val="1100"/>
              </a:spcAft>
              <a:buSzPct val="100000"/>
              <a:buChar char="•"/>
            </a:pPr>
            <a:r>
              <a:rPr lang="en-IN" sz="1300" dirty="0"/>
              <a:t>a fixed phase shift would cause different frequencies to steer to different angles. To fix this, they substituted the phase term with a </a:t>
            </a:r>
            <a:r>
              <a:rPr lang="en-IN" sz="1300" b="1" dirty="0"/>
              <a:t>true time delay</a:t>
            </a:r>
            <a:r>
              <a:rPr lang="en-IN" sz="1300" dirty="0"/>
              <a:t> (</a:t>
            </a:r>
            <a:r>
              <a:rPr lang="en-IN" sz="1300" i="1" dirty="0"/>
              <a:t>td</a:t>
            </a:r>
            <a:r>
              <a:rPr lang="en-IN" sz="1300" dirty="0"/>
              <a:t>​), which eliminated the dependency on wavelength (</a:t>
            </a:r>
            <a:r>
              <a:rPr lang="en-IN" sz="1300" i="1" dirty="0"/>
              <a:t>λ</a:t>
            </a:r>
            <a:r>
              <a:rPr lang="en-IN" sz="1300" dirty="0"/>
              <a:t>) and allowed all frequencies in a music file to steer to the same angle simultaneously</a:t>
            </a:r>
            <a:endParaRPr lang="en-US" sz="1300" dirty="0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C9AD79E9-346C-AF8B-070C-FFD68D232A99}"/>
              </a:ext>
            </a:extLst>
          </p:cNvPr>
          <p:cNvSpPr/>
          <p:nvPr/>
        </p:nvSpPr>
        <p:spPr>
          <a:xfrm>
            <a:off x="6172200" y="1508760"/>
            <a:ext cx="5958348" cy="2657748"/>
          </a:xfrm>
          <a:prstGeom prst="roundRect">
            <a:avLst>
              <a:gd name="adj" fmla="val 3404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2AE39E73-2C45-56B5-426E-F19B51EE8414}"/>
              </a:ext>
            </a:extLst>
          </p:cNvPr>
          <p:cNvSpPr/>
          <p:nvPr/>
        </p:nvSpPr>
        <p:spPr>
          <a:xfrm>
            <a:off x="6355080" y="164592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wavelength and frequency to velocity of sound</a:t>
            </a:r>
            <a:endParaRPr lang="en-US" sz="1250" dirty="0"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7D4524F4-0425-3DD5-C75D-9968A2F5449B}"/>
              </a:ext>
            </a:extLst>
          </p:cNvPr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F3428D0-888F-1FD5-D1AB-D52FE9170545}"/>
              </a:ext>
            </a:extLst>
          </p:cNvPr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C56E8AF0-2D12-7A3A-B8FF-93AC654F77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7876" y="2168868"/>
            <a:ext cx="5806996" cy="17767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4101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98796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 Time Delay vs. Phase Steering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FBEEEF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367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PHASE-ONLY STEERING</a:t>
            </a:r>
            <a:endParaRPr lang="en-US" sz="1200" dirty="0"/>
          </a:p>
        </p:txBody>
      </p:sp>
      <p:pic>
        <p:nvPicPr>
          <p:cNvPr id="6" name="Image 0" descr="/home/claude/ppt/assets/eq_pha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947672"/>
            <a:ext cx="4937760" cy="914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phase shift per element → the resulting angle depends on wavelength. Correct only at one design frequency.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349240" cy="1965960"/>
          </a:xfrm>
          <a:prstGeom prst="roundRect">
            <a:avLst>
              <a:gd name="adj" fmla="val 3721"/>
            </a:avLst>
          </a:prstGeom>
          <a:solidFill>
            <a:srgbClr val="E8F4EE"/>
          </a:solidFill>
          <a:ln w="12700">
            <a:solidFill>
              <a:srgbClr val="1C7C5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00800" y="1636776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C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TIME DELAY  (OURS)</a:t>
            </a:r>
            <a:endParaRPr lang="en-US" sz="1200" dirty="0"/>
          </a:p>
        </p:txBody>
      </p:sp>
      <p:pic>
        <p:nvPicPr>
          <p:cNvPr id="10" name="Image 1" descr="/home/claude/ppt/assets/eq_tt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947672"/>
            <a:ext cx="4937760" cy="914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2880360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Fixed time delay per element → angle depends only on element spacing. One delay set steers correctly at every frequency.</a:t>
            </a:r>
            <a:endParaRPr lang="en-US" sz="1150" dirty="0"/>
          </a:p>
        </p:txBody>
      </p:sp>
      <p:sp>
        <p:nvSpPr>
          <p:cNvPr id="12" name="Text 8"/>
          <p:cNvSpPr/>
          <p:nvPr/>
        </p:nvSpPr>
        <p:spPr>
          <a:xfrm>
            <a:off x="548640" y="370332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Steering-Angle Behavior vs. Frequency  (target angle = 30°)</a:t>
            </a:r>
            <a:endParaRPr lang="en-US" sz="1250" dirty="0"/>
          </a:p>
        </p:txBody>
      </p:sp>
      <p:graphicFrame>
        <p:nvGraphicFramePr>
          <p:cNvPr id="13" name="Chart 0"/>
          <p:cNvGraphicFramePr/>
          <p:nvPr>
            <p:extLst>
              <p:ext uri="{D42A27DB-BD31-4B8C-83A1-F6EECF244321}">
                <p14:modId xmlns:p14="http://schemas.microsoft.com/office/powerpoint/2010/main" val="2237363860"/>
              </p:ext>
            </p:extLst>
          </p:nvPr>
        </p:nvGraphicFramePr>
        <p:xfrm>
          <a:off x="548640" y="3977640"/>
          <a:ext cx="1110996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sp>
        <p:nvSpPr>
          <p:cNvPr id="14" name="Text 9"/>
          <p:cNvSpPr/>
          <p:nvPr/>
        </p:nvSpPr>
        <p:spPr>
          <a:xfrm>
            <a:off x="548640" y="6355080"/>
            <a:ext cx="10972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qualitative trend to be confirmed via MATLAB/Simulink simulation and hardware measurement.</a:t>
            </a:r>
            <a:endParaRPr lang="en-US" sz="950" dirty="0"/>
          </a:p>
        </p:txBody>
      </p:sp>
      <p:sp>
        <p:nvSpPr>
          <p:cNvPr id="15" name="Text 1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0">
            <a:extLst>
              <a:ext uri="{FF2B5EF4-FFF2-40B4-BE49-F238E27FC236}">
                <a16:creationId xmlns:a16="http://schemas.microsoft.com/office/drawing/2014/main" id="{21C7C91C-E712-DA11-F755-165356E01667}"/>
              </a:ext>
            </a:extLst>
          </p:cNvPr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E61A06D-552F-65E3-B6B5-91308152B6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483" y="54864"/>
            <a:ext cx="4175147" cy="313136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53EF6A1-7FF5-5FF4-61D3-CD457F7ED5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326" y="3258618"/>
            <a:ext cx="4264254" cy="3198191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7310D9-5A51-8D4C-6DDE-7C74E6D070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2879" y="54864"/>
            <a:ext cx="4175147" cy="3131360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456FAC-724B-0289-C191-F246D95A8FA7}"/>
                  </a:ext>
                </a:extLst>
              </p:cNvPr>
              <p:cNvSpPr txBox="1"/>
              <p:nvPr/>
            </p:nvSpPr>
            <p:spPr>
              <a:xfrm>
                <a:off x="1290483" y="3583857"/>
                <a:ext cx="4175147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/>
                  <a:t>Simulation results from the references showed that using large arrays gave better control over lower frequencies, while the elements placed more closely together gave better control over higher frequencies.</a:t>
                </a:r>
              </a:p>
              <a:p>
                <a:endParaRPr lang="en-US" dirty="0"/>
              </a:p>
              <a:p>
                <a:r>
                  <a:rPr lang="en-US" dirty="0"/>
                  <a:t>These following simulation results are for N = 12, d = 0.085m, a = 0.07m,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=0.272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𝑚𝑠</m:t>
                    </m:r>
                  </m:oMath>
                </a14:m>
                <a:r>
                  <a:rPr lang="en-IN" dirty="0"/>
                  <a:t>.</a:t>
                </a:r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D6456FAC-724B-0289-C191-F246D95A8FA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90483" y="3583857"/>
                <a:ext cx="4175147" cy="2862322"/>
              </a:xfrm>
              <a:prstGeom prst="rect">
                <a:avLst/>
              </a:prstGeom>
              <a:blipFill>
                <a:blip r:embed="rId5"/>
                <a:stretch>
                  <a:fillRect l="-1314" t="-1279" r="-876" b="-255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9684840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References, Two Lenses</a:t>
            </a:r>
            <a:endParaRPr lang="en-US" sz="3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08760"/>
          <a:ext cx="11292840" cy="4663442"/>
        </p:xfrm>
        <a:graphic>
          <a:graphicData uri="http://schemas.openxmlformats.org/drawingml/2006/table">
            <a:tbl>
              <a:tblPr/>
              <a:tblGrid>
                <a:gridCol w="1965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46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Paper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Focus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Contribution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Relevance to Our 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Luo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Constant-directivity loudspeaker beamforming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Frequency-regularized MECD/MSCD optimization for heterogeneous arrays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Informs future weighting for non-uniform speaker response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Pope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Phased-array system design &amp; demonstration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Compares analog / digital / hybrid architectures and calibration routines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Justifies our all-digital, MCU-based architecture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Zhang et al. (2024)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Differential loudspeaker line-array beamforming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Steerable frequency-invariant beampatterns (300 Hz–4 kHz) via Jacobi–Anger modal matching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Confirms frequency-invariant design is still unsolved for loudspeaker (not just microphone) arrays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Szoka &amp; Jackson (2012)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Phased-array speaker system, Cornell ECE 4760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12-element array steered by 44.1 kHz sample-domain group delay on an ATmega644 — true time delay, not phase shift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Closest direct hardware precedent — validates TTD-on-MCU; rejected FFT-based phase steering as too slow for real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20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Grassin (2020)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Open-source beamsteering with a 12-speaker Arduino array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Per-channel phase/amplitude-law steering; measured polar patterns at a single tone (750 Hz)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Shows phase-only steering works well at one frequency — motivates our multi-frequency squint comparison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3E9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Beamforming Theory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36118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54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Luo, 2024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212848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Constant Directivity Beamforming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32095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Proposes MECD / MSCD beamformer designs solved via quadratic programming, optimizing efficiency and sensitivity under a constant generalized-directivity constraint.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34256" y="15544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34256" y="1554480"/>
            <a:ext cx="36118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1" name="Text 9"/>
          <p:cNvSpPr/>
          <p:nvPr/>
        </p:nvSpPr>
        <p:spPr>
          <a:xfrm>
            <a:off x="4535424" y="1554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Zhang et al., 2024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535424" y="2212848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Steerable Frequency-Invariant Beamforming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535424" y="2971800"/>
            <a:ext cx="32095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Designs a differential loudspeaker line-array beamformer via Jacobi–Anger modal matching, achieving steerable frequency-invariant beampatterns from 300 Hz–4 kHz.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19872" y="1554480"/>
            <a:ext cx="3611880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119872" y="1554480"/>
            <a:ext cx="3611880" cy="502920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16" name="Text 14"/>
          <p:cNvSpPr/>
          <p:nvPr/>
        </p:nvSpPr>
        <p:spPr>
          <a:xfrm>
            <a:off x="8321040" y="155448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Pope et al., 2024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8321040" y="2212848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Array Systems — Design &amp; Demo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321040" y="2971800"/>
            <a:ext cx="3209544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Surveys analog, digital, and hybrid phased-array architectures with measurement-based cascade models and a working calibration routine.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works establish rigorous beamformer optimization for RF, spherical, and differential loudspeaker arrays — but none target a low-cost, wideband, embedded audio array steered by simple sample-domain TTD.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REVIEW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Deep-Dive: Applications &amp; Precedent Hardware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5504688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554480"/>
            <a:ext cx="5504688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554480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Szoka &amp; Jackson, 2012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212848"/>
            <a:ext cx="5102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True-Time-Delay Speaker Array (Cornell ECE 4760)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2971800"/>
            <a:ext cx="510235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12-element array steered by sample-domain group delay on an ATmega644 at 44.1 kHz — true time delay, not phase shift. The team explicitly considered and rejected FFT/IFFT phase steering as too slow for the MCU.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227064" y="1554480"/>
            <a:ext cx="5504688" cy="411480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227064" y="1554480"/>
            <a:ext cx="5504688" cy="5029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1" name="Text 9"/>
          <p:cNvSpPr/>
          <p:nvPr/>
        </p:nvSpPr>
        <p:spPr>
          <a:xfrm>
            <a:off x="6428232" y="1554480"/>
            <a:ext cx="5138928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Grassin, 2020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28232" y="2212848"/>
            <a:ext cx="51023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Open-Source Phase-Steered Speaker Array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428232" y="2971800"/>
            <a:ext cx="5102352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12-speaker Arduino array steered by per-channel phase and amplitude law; measured single-tone (750 Hz) polar patterns confirm the physics, published open-source under an MIT license.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48640" y="5806440"/>
            <a:ext cx="11109960" cy="685800"/>
          </a:xfrm>
          <a:prstGeom prst="roundRect">
            <a:avLst>
              <a:gd name="adj" fmla="val 8000"/>
            </a:avLst>
          </a:prstGeom>
          <a:solidFill>
            <a:srgbClr val="EDF2F9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5806440"/>
            <a:ext cx="10607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Synthesis:  </a:t>
            </a: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hobbyist/course precedents prove phased-array audio beamsteering works on cheap microcontrollers — one already committed to true time delay, the other to phase-only — but neither quantifies the TTD-vs-phase-only tradeoff across the full audio band.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Research Gap &amp; Our Contribution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LITERATURE OFFERS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Rigorous beamformer optimization theory — for RF arrays (Pope et al.) and full-size or differential loudspeaker arrays (Luo; Zhang et al.), not resource-constrained embedded audio hardware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hobbyist/course-level MCU-driven audio phased arrays — one already true-time-delay (Szoka &amp; Jackson, 2012), the other phase/amplitude-only (Grassin, 2020)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5943600" y="1554480"/>
            <a:ext cx="18288" cy="3931920"/>
          </a:xfrm>
          <a:prstGeom prst="rect">
            <a:avLst/>
          </a:prstGeom>
          <a:solidFill>
            <a:srgbClr val="E3E9F2"/>
          </a:solidFill>
          <a:ln/>
        </p:spPr>
      </p:sp>
      <p:sp>
        <p:nvSpPr>
          <p:cNvPr id="7" name="Text 5"/>
          <p:cNvSpPr/>
          <p:nvPr/>
        </p:nvSpPr>
        <p:spPr>
          <a:xfrm>
            <a:off x="6217920" y="1554480"/>
            <a:ext cx="5120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100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MISSING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6217920" y="1920240"/>
            <a:ext cx="51206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published low-cost MCU implementation quantitatively compares TTD against phase-only steering across the full audio band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characterization of the gap between ideal continuous-delay TTD and the sample-quantization-limited TTD actually achievable on embedded hardware</a:t>
            </a:r>
            <a:endParaRPr lang="en-US" sz="125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simulation-first, hardware-validated workflow combining MATLAB/Simulink with a physical RP2040 array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5623560"/>
            <a:ext cx="11109960" cy="868680"/>
          </a:xfrm>
          <a:prstGeom prst="roundRect">
            <a:avLst>
              <a:gd name="adj" fmla="val 7368"/>
            </a:avLst>
          </a:prstGeom>
          <a:solidFill>
            <a:srgbClr val="1B2A4A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5751576"/>
            <a:ext cx="594360" cy="5943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0" descr="/home/claude/ppt/assets/icon_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054" y="5906110"/>
            <a:ext cx="285293" cy="285293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508760" y="5623560"/>
            <a:ext cx="99669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contribution: 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6-element RP2040 true-time-delay beamformer benchmarked against an ideal continuous-delay TTD ceiling and a phase-only alternative on the same hardware — quantifying both the TTD-vs-phase-only gap and how much of the ideal advantage survives sample quantization.</a:t>
            </a:r>
            <a:endParaRPr lang="en-US" sz="1250" dirty="0"/>
          </a:p>
        </p:txBody>
      </p:sp>
      <p:sp>
        <p:nvSpPr>
          <p:cNvPr id="13" name="Text 1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DESIGN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813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SIGNAL CHAIN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548640" y="18288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1865376"/>
            <a:ext cx="1600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1828800"/>
            <a:ext cx="16916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14600" y="1865376"/>
            <a:ext cx="160020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Amp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(bias + gain)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89120" y="1828800"/>
            <a:ext cx="1371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434840" y="1865376"/>
            <a:ext cx="12801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ADC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1B2A4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35040" y="1865376"/>
            <a:ext cx="20116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RP2040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(dual-core)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321040" y="1828800"/>
            <a:ext cx="196596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66760" y="1865376"/>
            <a:ext cx="187452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MCP4728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DAC (I2C)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240280" y="2217420"/>
            <a:ext cx="228600" cy="9144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4160520" y="2217420"/>
            <a:ext cx="228600" cy="9144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760720" y="2217420"/>
            <a:ext cx="228600" cy="9144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8092440" y="2217420"/>
            <a:ext cx="228600" cy="9144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321040" y="324612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EDF2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66760" y="3282696"/>
            <a:ext cx="2194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 Amp + LPF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(×6 channels)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9464040" y="2606040"/>
            <a:ext cx="9144" cy="64008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321040" y="4663440"/>
            <a:ext cx="2286000" cy="777240"/>
          </a:xfrm>
          <a:prstGeom prst="roundRect">
            <a:avLst>
              <a:gd name="adj" fmla="val 7059"/>
            </a:avLst>
          </a:prstGeom>
          <a:solidFill>
            <a:srgbClr val="FF6B35"/>
          </a:solidFill>
          <a:ln w="15875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66760" y="4700016"/>
            <a:ext cx="219456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Speakers × 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dB · 8Ω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4040" y="4023360"/>
            <a:ext cx="9144" cy="640080"/>
          </a:xfrm>
          <a:prstGeom prst="line">
            <a:avLst/>
          </a:prstGeom>
          <a:noFill/>
          <a:ln w="22225">
            <a:solidFill>
              <a:srgbClr val="5B6B85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989320" y="3246120"/>
            <a:ext cx="2103120" cy="777240"/>
          </a:xfrm>
          <a:prstGeom prst="roundRect">
            <a:avLst>
              <a:gd name="adj" fmla="val 7059"/>
            </a:avLst>
          </a:prstGeom>
          <a:solidFill>
            <a:srgbClr val="EDF2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35040" y="3282696"/>
            <a:ext cx="2011680" cy="7040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Potentiometer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(steering-angle UI)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 flipV="1">
            <a:off x="7040880" y="2606040"/>
            <a:ext cx="9144" cy="640080"/>
          </a:xfrm>
          <a:prstGeom prst="line">
            <a:avLst/>
          </a:prstGeom>
          <a:noFill/>
          <a:ln w="22225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28" name="Text 26"/>
          <p:cNvSpPr/>
          <p:nvPr/>
        </p:nvSpPr>
        <p:spPr>
          <a:xfrm>
            <a:off x="5989320" y="416052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STEERING CONTROL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48640" y="5166360"/>
            <a:ext cx="7452360" cy="1234440"/>
          </a:xfrm>
          <a:prstGeom prst="roundRect">
            <a:avLst>
              <a:gd name="adj" fmla="val 5185"/>
            </a:avLst>
          </a:prstGeom>
          <a:solidFill>
            <a:srgbClr val="F2F5FA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257800"/>
            <a:ext cx="70408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RP2040 computes the per-channel delay for the chosen angle, then drives each speaker's DAC channel accordingly</a:t>
            </a:r>
            <a:endParaRPr lang="en-US" sz="1100" dirty="0"/>
          </a:p>
          <a:p>
            <a:pPr marL="228600" indent="-2286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low-pass filter removes DAC quantization noise; the buffer stage matches the 8Ω speaker impedance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Simulation-First Validation Workflow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68096" y="177393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ppt/assets/icon_flas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5497" y="1921337"/>
            <a:ext cx="272125" cy="27212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68096" y="24871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MATLAB/Simulink +</a:t>
            </a:r>
            <a:endParaRPr lang="en-US" sz="1450" dirty="0"/>
          </a:p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Phased Array Toolbox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68096" y="3182112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acoustic beam-steering physics and TTD delay logic. All 6 speakers modeled simultaneously at a propagation speed of 343 m/s.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34256" y="15544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53712" y="1773936"/>
            <a:ext cx="566928" cy="566928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11" name="Image 1" descr="/home/claude/ppt/assets/icon_cog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1113" y="1921337"/>
            <a:ext cx="272125" cy="27212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53712" y="24871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Simscape Electrical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53712" y="3182112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Behavioral modeling of the amplifier and low-pass filter stages — fast to iterate, useful for system-level sanity checks.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119872" y="1554480"/>
            <a:ext cx="3611880" cy="283464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39328" y="1773936"/>
            <a:ext cx="566928" cy="566928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6" name="Image 2" descr="/home/claude/ppt/assets/icon_chip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6729" y="1921337"/>
            <a:ext cx="272125" cy="27212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39328" y="2487168"/>
            <a:ext cx="31546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LTspice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39328" y="3182112"/>
            <a:ext cx="31546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Vendor-accurate SPICE-level validation of the same analog stages using real component models — preferred whenever precision matters.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4160520" y="4389120"/>
            <a:ext cx="365760" cy="9144"/>
          </a:xfrm>
          <a:prstGeom prst="line">
            <a:avLst/>
          </a:prstGeom>
          <a:noFill/>
          <a:ln w="19050">
            <a:solidFill>
              <a:srgbClr val="BFC9DA"/>
            </a:solidFill>
            <a:prstDash val="solid"/>
            <a:tailEnd type="triangle"/>
          </a:ln>
        </p:spPr>
      </p:sp>
      <p:sp>
        <p:nvSpPr>
          <p:cNvPr id="20" name="Shape 15"/>
          <p:cNvSpPr/>
          <p:nvPr/>
        </p:nvSpPr>
        <p:spPr>
          <a:xfrm>
            <a:off x="7772400" y="4389120"/>
            <a:ext cx="365760" cy="9144"/>
          </a:xfrm>
          <a:prstGeom prst="line">
            <a:avLst/>
          </a:prstGeom>
          <a:noFill/>
          <a:ln w="19050">
            <a:solidFill>
              <a:srgbClr val="BFC9DA"/>
            </a:solidFill>
            <a:prstDash val="solid"/>
            <a:tailEnd type="triangle"/>
          </a:ln>
        </p:spPr>
      </p:sp>
      <p:sp>
        <p:nvSpPr>
          <p:cNvPr id="21" name="Shape 16"/>
          <p:cNvSpPr/>
          <p:nvPr/>
        </p:nvSpPr>
        <p:spPr>
          <a:xfrm>
            <a:off x="548640" y="4617720"/>
            <a:ext cx="11109960" cy="1188720"/>
          </a:xfrm>
          <a:prstGeom prst="roundRect">
            <a:avLst>
              <a:gd name="adj" fmla="val 5385"/>
            </a:avLst>
          </a:prstGeom>
          <a:solidFill>
            <a:srgbClr val="1B2A4A"/>
          </a:solidFill>
          <a:ln/>
        </p:spPr>
      </p:sp>
      <p:sp>
        <p:nvSpPr>
          <p:cNvPr id="22" name="Text 17"/>
          <p:cNvSpPr/>
          <p:nvPr/>
        </p:nvSpPr>
        <p:spPr>
          <a:xfrm>
            <a:off x="822960" y="4617720"/>
            <a:ext cx="10607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simulation-first?  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Beam-steering logic and analog behavior are validated stage-by-stage in software — using Scope / To Workspace blocks at every node — before any hardware is trusted with the results. LTspice is preferred over Simscape Electrical when a specific analog claim needs vendor SPICE accuracy rather than a generic behavioral model.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Hardware-in-the-Loop Validation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EDF2F9"/>
          </a:solidFill>
          <a:ln w="15875">
            <a:solidFill>
              <a:srgbClr val="2E86A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728216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 Simulink Model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(beam-steering + TTD logic)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7406640" y="1691640"/>
            <a:ext cx="3931920" cy="1005840"/>
          </a:xfrm>
          <a:prstGeom prst="roundRect">
            <a:avLst>
              <a:gd name="adj" fmla="val 5455"/>
            </a:avLst>
          </a:prstGeom>
          <a:solidFill>
            <a:srgbClr val="1B2A4A"/>
          </a:solidFill>
          <a:ln w="15875">
            <a:solidFill>
              <a:srgbClr val="1B2A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52360" y="1728216"/>
            <a:ext cx="3840480" cy="9326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RP2040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(retargeted via Arduino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Package v25.2.9)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2043684"/>
            <a:ext cx="2651760" cy="9144"/>
          </a:xfrm>
          <a:prstGeom prst="line">
            <a:avLst/>
          </a:prstGeom>
          <a:noFill/>
          <a:ln w="25400">
            <a:solidFill>
              <a:srgbClr val="2E86AB"/>
            </a:solidFill>
            <a:prstDash val="solid"/>
            <a:tailEnd type="triangle"/>
          </a:ln>
        </p:spPr>
      </p:sp>
      <p:sp>
        <p:nvSpPr>
          <p:cNvPr id="9" name="Shape 7"/>
          <p:cNvSpPr/>
          <p:nvPr/>
        </p:nvSpPr>
        <p:spPr>
          <a:xfrm flipH="1">
            <a:off x="4754880" y="2446020"/>
            <a:ext cx="2651760" cy="9144"/>
          </a:xfrm>
          <a:prstGeom prst="line">
            <a:avLst/>
          </a:prstGeom>
          <a:noFill/>
          <a:ln w="25400">
            <a:solidFill>
              <a:srgbClr val="FF6B35"/>
            </a:solidFill>
            <a:prstDash val="solid"/>
            <a:tailEnd type="triangle"/>
          </a:ln>
        </p:spPr>
      </p:sp>
      <p:sp>
        <p:nvSpPr>
          <p:cNvPr id="10" name="Text 8"/>
          <p:cNvSpPr/>
          <p:nvPr/>
        </p:nvSpPr>
        <p:spPr>
          <a:xfrm>
            <a:off x="4754880" y="167335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model →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4754880" y="2679192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← External Mode: live signal data over USB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48640" y="3063240"/>
            <a:ext cx="110642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Simulink Support Package for Arduino Hardware (v25.2.9) confirms RP2040/Pico support as of R2024b — genuine hardware-in-the-loop, not just code generation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Mode streams live signal data back over USB while the model runs on the board — parameters can be tuned without reflashing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model validated in simulation is retargeted directly onto the physical array, closing the loop between theory and hardware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5257800"/>
            <a:ext cx="11109960" cy="960120"/>
          </a:xfrm>
          <a:prstGeom prst="roundRect">
            <a:avLst>
              <a:gd name="adj" fmla="val 6667"/>
            </a:avLst>
          </a:prstGeom>
          <a:solidFill>
            <a:srgbClr val="FBEEEF"/>
          </a:solidFill>
          <a:ln w="12700">
            <a:solidFill>
              <a:srgbClr val="B23A4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5257800"/>
            <a:ext cx="1060704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B23A4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Caveat:  </a:t>
            </a: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analog stages (input amp, speaker amp, low-pass filters) sit outside the USB/Simulink monitoring loop. Their behavior is confirmed separately with an oscilloscope or DAQ, not through External Mode.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Key Deliverable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29768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direct, quantified comparison of TTD vs. phase-only steering error across the audio band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Metric: angular error = |achieved angle − target angle| at each test frequency</a:t>
            </a:r>
            <a:endParaRPr lang="en-US" sz="1300" dirty="0"/>
          </a:p>
          <a:p>
            <a:pPr marL="228600" indent="-228600">
              <a:spcAft>
                <a:spcPts val="14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 near-zero error for TTD across the full band; growing error for phase-only steering away from its design frequency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470916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1B2A4A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4937760"/>
            <a:ext cx="548640" cy="54864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7" name="Image 0" descr="/home/claude/ppt/assets/icon_char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9886" y="508040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63040" y="49377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comparison is expected to be </a:t>
            </a:r>
            <a:r>
              <a:rPr lang="en-US" sz="1250" b="1" dirty="0">
                <a:solidFill>
                  <a:srgbClr val="FF6B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strongest result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in the final report.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120640" y="1600200"/>
            <a:ext cx="6492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Angular Steering Error vs. Frequency</a:t>
            </a:r>
            <a:endParaRPr lang="en-US" sz="1250" dirty="0"/>
          </a:p>
        </p:txBody>
      </p:sp>
      <p:graphicFrame>
        <p:nvGraphicFramePr>
          <p:cNvPr id="10" name="Chart 0"/>
          <p:cNvGraphicFramePr/>
          <p:nvPr/>
        </p:nvGraphicFramePr>
        <p:xfrm>
          <a:off x="5120640" y="1920240"/>
          <a:ext cx="65379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1" name="Text 7"/>
          <p:cNvSpPr/>
          <p:nvPr/>
        </p:nvSpPr>
        <p:spPr>
          <a:xfrm>
            <a:off x="5120640" y="6172200"/>
            <a:ext cx="6492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actual values pending MATLAB/Simulink simulation and hardware measurement.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LOOKING AHEAD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011680"/>
            <a:ext cx="822960" cy="822960"/>
          </a:xfrm>
          <a:prstGeom prst="ellipse">
            <a:avLst/>
          </a:prstGeom>
          <a:solidFill>
            <a:srgbClr val="2E86AB"/>
          </a:solidFill>
          <a:ln/>
        </p:spPr>
      </p:sp>
      <p:pic>
        <p:nvPicPr>
          <p:cNvPr id="6" name="Image 0" descr="/home/claude/ppt/assets/icon_physi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2650" y="2225650"/>
            <a:ext cx="395021" cy="3950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920240" y="21488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Ultrasound-Modulated Audio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parametric array loudspeaker (PAL) modulates audio onto a ~40 kHz carrier for a tight beam from a small aperture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Narrow fractional bandwidth near the carrier means beam squint largely disappears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Self-demodulation relies on air's nonlinearity (Berktay's solution); naive modulation distorts, so real systems predistort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Lab II needs new ultrasonic transducers (e.g., MA40S4S) and a matched DAC/amp chain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217920" y="16916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E3E9F2"/>
            </a:solidFill>
            <a:prstDash val="solid"/>
          </a:ln>
          <a:effectLst>
            <a:outerShdw blurRad="76200" dist="25400" dir="5400000" algn="bl" rotWithShape="0">
              <a:srgbClr val="9AAEC7">
                <a:alpha val="25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537960" y="2011680"/>
            <a:ext cx="822960" cy="822960"/>
          </a:xfrm>
          <a:prstGeom prst="ellipse">
            <a:avLst/>
          </a:prstGeom>
          <a:solidFill>
            <a:srgbClr val="FF6B35"/>
          </a:solidFill>
          <a:ln/>
        </p:spPr>
      </p:sp>
      <p:pic>
        <p:nvPicPr>
          <p:cNvPr id="11" name="Image 1" descr="/home/claude/ppt/assets/icon_rock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1930" y="2225650"/>
            <a:ext cx="395021" cy="39502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589520" y="2148840"/>
            <a:ext cx="37033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Productization</a:t>
            </a:r>
            <a:endParaRPr lang="en-US" sz="1800" dirty="0"/>
          </a:p>
        </p:txBody>
      </p:sp>
      <p:sp>
        <p:nvSpPr>
          <p:cNvPr id="13" name="Text 9"/>
          <p:cNvSpPr/>
          <p:nvPr/>
        </p:nvSpPr>
        <p:spPr>
          <a:xfrm>
            <a:off x="6583680" y="3108960"/>
            <a:ext cx="461772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 the working prototype into a finished, enclosed product</a:t>
            </a:r>
            <a:endParaRPr lang="en-US" sz="1300" dirty="0"/>
          </a:p>
          <a:p>
            <a:pPr marL="228600" indent="-2286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Refine industrial design, power delivery, and user interface for real-world use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BIBLIOGRAPHY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60020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Luo, “Constant Directivity Loudspeaker Beamforming,” 2024, arXiv:2407.01860v3.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48640" y="3172968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05840" y="3172968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Pope, H. Tang, B. Zheng, and H. Zhang, “Phased Array Systems – Design Considerations &amp; System Demonstration,” in 2024 IEEE Int. Symp. Phased Array Systems and Technology (ARRAY), Boston, MA, USA, 2024, pp. 1–8, doi: 10.1109/ARRAY58370.2024.10880346.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4745736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4745736"/>
            <a:ext cx="1056132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Y. Zhang, Q. Xiang, and Q. Zhu, “Design of Differential Loudspeaker Line Array for Steerable Frequency-Invariant Beamforming,” Sensors, vol. 24, no. 19, art. 6277, 2024, doi: 10.3390/s24196277.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17920" y="1600200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675120" y="1600200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 Szoka and T. Jackson, “Phased Array Speaker System,” ECE 4760 Final Project, Cornell University, Spring 2012. [Online]. Available: https://people.ece.cornell.edu/land/courses/ece4760/FinalProjects/s2012/tcj26_ecs227/tcj26_ecs227/index.html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172968"/>
            <a:ext cx="4572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b="1" dirty="0">
                <a:solidFill>
                  <a:srgbClr val="2E86A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675120" y="3172968"/>
            <a:ext cx="489204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C. Grassin, “Acoustic Beamsteering with a Speaker Array,” Charles’ Labs, Mar. 2020. [Online]. Available: https://charleslabs.fr/en/project-Acoustic+beamsteering+with+a+speaker+array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6547104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  |  OPEN LAB I — REVIEW 1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640080" y="-640080"/>
            <a:ext cx="2926080" cy="2926080"/>
          </a:xfrm>
          <a:prstGeom prst="donut">
            <a:avLst/>
          </a:prstGeom>
          <a:ln w="13970">
            <a:solidFill>
              <a:srgbClr val="2E86AB">
                <a:alpha val="5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82880" y="-182880"/>
            <a:ext cx="2011680" cy="2011680"/>
          </a:xfrm>
          <a:prstGeom prst="donut">
            <a:avLst/>
          </a:prstGeom>
          <a:ln w="13970">
            <a:solidFill>
              <a:srgbClr val="2E86AB">
                <a:alpha val="4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274320"/>
            <a:ext cx="1097280" cy="1097280"/>
          </a:xfrm>
          <a:prstGeom prst="donut">
            <a:avLst/>
          </a:prstGeom>
          <a:ln w="13970">
            <a:solidFill>
              <a:srgbClr val="2E86AB">
                <a:alpha val="3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2286000"/>
            <a:ext cx="10972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548640" y="324612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548640" y="4114800"/>
            <a:ext cx="2377440" cy="384048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4114800"/>
            <a:ext cx="23774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ACOUSTIC PHASED-ARRAY SYSTEM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48640" y="470916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Beesetty Rohith  ·  Indraganti Sri Sarath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Lalithadithya Krishna Enukonda  ·  Galeti Jaswanth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48640" y="63093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D8E9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1  ·  Department of ECE  ·  Amrita Vishwa Vidyapeetham, Coimbatore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660</TotalTime>
  <Words>2451</Words>
  <Application>Microsoft Office PowerPoint</Application>
  <PresentationFormat>Widescreen</PresentationFormat>
  <Paragraphs>277</Paragraphs>
  <Slides>19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Cambria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Lalith Adithya</cp:lastModifiedBy>
  <cp:revision>3</cp:revision>
  <dcterms:created xsi:type="dcterms:W3CDTF">2026-07-28T02:26:36Z</dcterms:created>
  <dcterms:modified xsi:type="dcterms:W3CDTF">2026-08-03T03:39:40Z</dcterms:modified>
</cp:coreProperties>
</file>